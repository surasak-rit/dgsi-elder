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ปัจจุบัน (ประมาณการ)</c:v>
                </c:pt>
              </c:strCache>
            </c:strRef>
          </c:tx>
          <c:spPr>
            <a:solidFill>
              <a:srgbClr val="D85A30"/>
            </a:solidFill>
            <a:ln w="25400" cap="flat">
              <a:solidFill>
                <a:srgbClr val="D85A3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D85A30"/>
              </a:solidFill>
              <a:ln w="9525" cap="flat">
                <a:solidFill>
                  <a:srgbClr val="D85A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D1 ธรรมาภิบาล</c:v>
                  </c:pt>
                  <c:pt idx="1">
                    <c:v>D2 นโยบาย</c:v>
                  </c:pt>
                  <c:pt idx="2">
                    <c:v>D3 บัญชีข้อมูล</c:v>
                  </c:pt>
                  <c:pt idx="3">
                    <c:v>D4 คุณภาพ</c:v>
                  </c:pt>
                  <c:pt idx="4">
                    <c:v>D5 PDPA</c:v>
                  </c:pt>
                  <c:pt idx="5">
                    <c:v>D6 วิเคราะห์/AI</c:v>
                  </c:pt>
                  <c:pt idx="6">
                    <c:v>D7 วัฒนธรรม</c:v>
                  </c:pt>
                  <c:pt idx="7">
                    <c:v>D8 แพลตฟอร์ม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2</c:v>
                </c:pt>
                <c:pt idx="2">
                  <c:v>1.5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  <c:pt idx="7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เป้า 2 ปี</c:v>
                </c:pt>
              </c:strCache>
            </c:strRef>
          </c:tx>
          <c:spPr>
            <a:solidFill>
              <a:srgbClr val="1D9E75"/>
            </a:solidFill>
            <a:ln w="25400" cap="flat">
              <a:solidFill>
                <a:srgbClr val="1D9E75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D1 ธรรมาภิบาล</c:v>
                  </c:pt>
                  <c:pt idx="1">
                    <c:v>D2 นโยบาย</c:v>
                  </c:pt>
                  <c:pt idx="2">
                    <c:v>D3 บัญชีข้อมูล</c:v>
                  </c:pt>
                  <c:pt idx="3">
                    <c:v>D4 คุณภาพ</c:v>
                  </c:pt>
                  <c:pt idx="4">
                    <c:v>D5 PDPA</c:v>
                  </c:pt>
                  <c:pt idx="5">
                    <c:v>D6 วิเคราะห์/AI</c:v>
                  </c:pt>
                  <c:pt idx="6">
                    <c:v>D7 วัฒนธรรม</c:v>
                  </c:pt>
                  <c:pt idx="7">
                    <c:v>D8 แพลตฟอร์ม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3.5</c:v>
                </c:pt>
                <c:pt idx="5">
                  <c:v>3</c:v>
                </c:pt>
                <c:pt idx="6">
                  <c:v>3</c:v>
                </c:pt>
                <c:pt idx="7">
                  <c:v>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B33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B33"/>
              </a:solidFill>
              <a:latin typeface="Tahoma"/>
              <a:cs typeface="Tahom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1905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-731520"/>
            <a:ext cx="2743200" cy="2743200"/>
          </a:xfrm>
          <a:prstGeom prst="ellipse">
            <a:avLst/>
          </a:prstGeom>
          <a:ln w="19050">
            <a:solidFill>
              <a:srgbClr val="1D9E75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-182880"/>
            <a:ext cx="1645920" cy="1645920"/>
          </a:xfrm>
          <a:prstGeom prst="ellipse">
            <a:avLst/>
          </a:prstGeom>
          <a:solidFill>
            <a:srgbClr val="1D9E75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D9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เอกสารเสนอผู้บริหารระดับสูง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ศูนย์ธรรมาภิบาลข้อมูลและยุทธศาสตร์อัจฉริยะ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66928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E6D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ความได้เปรียบเชิงยุทธศาสตร์ </a:t>
            </a:r>
            <a:pPr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และเป้าหมายสู่ความเป็นเลิศ (Outstanding)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66928" y="4023360"/>
            <a:ext cx="2011680" cy="0"/>
          </a:xfrm>
          <a:prstGeom prst="line">
            <a:avLst/>
          </a:prstGeom>
          <a:noFill/>
          <a:ln w="3175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6B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ประเมินสถานะปัจจุบัน · นิยามความเป็นเลิศ · แผนดำเนินการ 2 ปี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A9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เสนอต่อ  </a:t>
            </a:r>
            <a:pPr indent="0" marL="0">
              <a:buNone/>
            </a:pPr>
            <a:r>
              <a:rPr lang="en-US" sz="1300" b="1" dirty="0">
                <a:solidFill>
                  <a:srgbClr val="CFE6D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อธิการบดี · รองอธิการบดี · สภามหาวิทยาลัย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45752" y="5943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6D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มิถุนายน 2569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บทสรุปผู้บริหาร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ทำไมมหาวิทยาลัยจึงต้องมีศูนย์ฯ นี้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ข้อมูลคือสินทรัพย์เชิงยุทธศาสตร์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ไม่ต่างจากบุคลากรหรืองบประมาณ ศูนย์ DGSI คือกลไกกำกับระดับองค์กรที่เปลี่ยนการตัดสินใจจาก ‘ประสบการณ์และสัญชาตญาณ’ สู่ ‘หลักฐานเชิงข้อมูลที่ตรวจสอบได้’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3246120"/>
            <a:ext cx="5486400" cy="2651760"/>
          </a:xfrm>
          <a:prstGeom prst="roundRect">
            <a:avLst>
              <a:gd name="adj" fmla="val 4138"/>
            </a:avLst>
          </a:prstGeom>
          <a:solidFill>
            <a:srgbClr val="EAF3EF"/>
          </a:solidFill>
          <a:ln w="12700">
            <a:solidFill>
              <a:srgbClr val="D7E0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3474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ใจความหลักในประโยคเดียว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38404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ศูนย์ฯ นี้คือการลงทุนที่เปลี่ยน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85A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ความเสี่ยงด้านข้อมูล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(PDPA · ข้อมูลรั่วไหล · ตัดสินใจผิดพลาด) ให้กลายเป็น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ความได้เปรียบในการแข่งขัน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(อันดับมหาวิทยาลัย · ประสิทธิภาพ · ความเชื่อมั่น)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สาระสำคัญที่ขออนุมัติ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93408" y="2203704"/>
            <a:ext cx="438912" cy="438912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6693408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075688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รับรอง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ความได้เปรียบเชิงยุทธศาสตร์ 6 มิติ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2990088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93408" y="3227832"/>
            <a:ext cx="438912" cy="438912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5" name="Text 13"/>
          <p:cNvSpPr/>
          <p:nvPr/>
        </p:nvSpPr>
        <p:spPr>
          <a:xfrm>
            <a:off x="6693408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0" y="3099816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เห็นชอบ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นิยาม Outstanding ตาม Data Maturity (เป้าระดับ 4–5 ปี 2573)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4014216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93408" y="4251960"/>
            <a:ext cx="438912" cy="438912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9" name="Text 17"/>
          <p:cNvSpPr/>
          <p:nvPr/>
        </p:nvSpPr>
        <p:spPr>
          <a:xfrm>
            <a:off x="6693408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0" y="4123944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เป้าหมายปลายทาง 5 เป้า พร้อม OKR/KPI ที่วัดได้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5038344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93408" y="5276088"/>
            <a:ext cx="438912" cy="438912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3" name="Text 21"/>
          <p:cNvSpPr/>
          <p:nvPr/>
        </p:nvSpPr>
        <p:spPr>
          <a:xfrm>
            <a:off x="6693408" y="5276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0" y="514807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สนับสนุน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แผนดำเนินการ 2 ปี และข้อเสนอเชิงนโยบาย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ศูนย์ธรรมาภิบาลข้อมูลและยุทธศาสตร์อัจฉริยะ (DGSI)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ความได้เปรียบเชิงยุทธศาสตร์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มิติที่มหาวิทยาลัยได้เปรียบเมื่อมีศูนย์ฯ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593592" cy="1993392"/>
          </a:xfrm>
          <a:prstGeom prst="roundRect">
            <a:avLst>
              <a:gd name="adj" fmla="val 4587"/>
            </a:avLst>
          </a:prstGeom>
          <a:solidFill>
            <a:srgbClr val="EAF3E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70078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096" y="224942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การตัดสินใจของผู้บริหาร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2724912"/>
            <a:ext cx="3191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Single Source of Truth + Dashboard ผู้บริหารแบบ near real-time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536192"/>
            <a:ext cx="3593592" cy="1993392"/>
          </a:xfrm>
          <a:prstGeom prst="roundRect">
            <a:avLst>
              <a:gd name="adj" fmla="val 4587"/>
            </a:avLst>
          </a:prstGeom>
          <a:solidFill>
            <a:srgbClr val="F4F1EA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170078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A751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6280" y="224942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ประสิทธิภาพการดำเนินงาน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6280" y="2724912"/>
            <a:ext cx="3191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ข้อมูลใช้ซ้ำได้ มีมาตรฐานกลาง ลดงานคีย์ซ้ำและ Shadow 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1536192"/>
            <a:ext cx="3593592" cy="1993392"/>
          </a:xfrm>
          <a:prstGeom prst="roundRect">
            <a:avLst>
              <a:gd name="adj" fmla="val 4587"/>
            </a:avLst>
          </a:prstGeom>
          <a:solidFill>
            <a:srgbClr val="EAF3E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84464" y="170078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84464" y="224942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ปฏิบัติตามกฎหมาย/PDPA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84464" y="2724912"/>
            <a:ext cx="3191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 DPO · RoPA · DPIA ลดความเสี่ยงปรับสูงสุด 5 ลบ.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12464"/>
            <a:ext cx="3593592" cy="1993392"/>
          </a:xfrm>
          <a:prstGeom prst="roundRect">
            <a:avLst>
              <a:gd name="adj" fmla="val 4587"/>
            </a:avLst>
          </a:prstGeom>
          <a:solidFill>
            <a:srgbClr val="F4F1EA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" y="387705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A751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68096" y="4425696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ยกอันดับ &amp; คุณภาพ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68096" y="4901184"/>
            <a:ext cx="3191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คลังข้อมูลตัวชี้วัดพร้อมตอบ THE/QS/EdPEx ทันเวลา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25112" y="3712464"/>
            <a:ext cx="3593592" cy="1993392"/>
          </a:xfrm>
          <a:prstGeom prst="roundRect">
            <a:avLst>
              <a:gd name="adj" fmla="val 4587"/>
            </a:avLst>
          </a:prstGeom>
          <a:solidFill>
            <a:srgbClr val="EAF3E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26280" y="387705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26280" y="4425696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ความสามารถด้าน AI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26280" y="4901184"/>
            <a:ext cx="3191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Ethics Framework + Analytics ที่ใช้ได้อย่างปลอดภัย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83296" y="3712464"/>
            <a:ext cx="3593592" cy="1993392"/>
          </a:xfrm>
          <a:prstGeom prst="roundRect">
            <a:avLst>
              <a:gd name="adj" fmla="val 4587"/>
            </a:avLst>
          </a:prstGeom>
          <a:solidFill>
            <a:srgbClr val="F4F1EA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84464" y="387705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A751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284464" y="4425696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ภาพลักษณ์ &amp; ความเชื่อมั่น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84464" y="4901184"/>
            <a:ext cx="3191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องค์กร Responsible Data-Driven ที่น่าเชื่อถือ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ศูนย์ธรรมาภิบาลข้อมูลและยุทธศาสตร์อัจฉริยะ (DGSI)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นิยามความเป็นเลิศ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Outstanding = Data Maturity ระดับ 4–5 อย่างยั่งยืน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4617720"/>
            <a:ext cx="2121408" cy="914400"/>
          </a:xfrm>
          <a:prstGeom prst="roundRect">
            <a:avLst>
              <a:gd name="adj" fmla="val 6000"/>
            </a:avLst>
          </a:prstGeom>
          <a:solidFill>
            <a:srgbClr val="DCE5E2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72744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5038344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Initial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029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ทำเฉพาะกิจ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56235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71216" y="4069080"/>
            <a:ext cx="2121408" cy="1463040"/>
          </a:xfrm>
          <a:prstGeom prst="roundRect">
            <a:avLst>
              <a:gd name="adj" fmla="val 3750"/>
            </a:avLst>
          </a:prstGeom>
          <a:solidFill>
            <a:srgbClr val="DCE5E2"/>
          </a:solidFill>
          <a:ln/>
        </p:spPr>
      </p:sp>
      <p:sp>
        <p:nvSpPr>
          <p:cNvPr id="10" name="Text 8"/>
          <p:cNvSpPr/>
          <p:nvPr/>
        </p:nvSpPr>
        <p:spPr>
          <a:xfrm>
            <a:off x="2871216" y="417880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71216" y="4489704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Managed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71216" y="5029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นโยบายเริ่มต้น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71216" y="56235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75504" y="3520440"/>
            <a:ext cx="2121408" cy="2011680"/>
          </a:xfrm>
          <a:prstGeom prst="roundRect">
            <a:avLst>
              <a:gd name="adj" fmla="val 2727"/>
            </a:avLst>
          </a:prstGeom>
          <a:solidFill>
            <a:srgbClr val="DCE5E2"/>
          </a:solidFill>
          <a:ln/>
        </p:spPr>
      </p:sp>
      <p:sp>
        <p:nvSpPr>
          <p:cNvPr id="15" name="Text 13"/>
          <p:cNvSpPr/>
          <p:nvPr/>
        </p:nvSpPr>
        <p:spPr>
          <a:xfrm>
            <a:off x="5175504" y="363016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75504" y="3941064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Defined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75504" y="5029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มาตรฐานทั่วองค์กร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75504" y="56235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79792" y="2971800"/>
            <a:ext cx="2121408" cy="2560320"/>
          </a:xfrm>
          <a:prstGeom prst="roundRect">
            <a:avLst>
              <a:gd name="adj" fmla="val 2586"/>
            </a:avLst>
          </a:prstGeom>
          <a:solidFill>
            <a:srgbClr val="0F6E56"/>
          </a:solidFill>
          <a:ln/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79792" y="308152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 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79792" y="3392424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6D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Quantitative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79792" y="5029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ตัดสินใจด้วยตัวเลข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79792" y="56235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84080" y="2423160"/>
            <a:ext cx="2121408" cy="3108960"/>
          </a:xfrm>
          <a:prstGeom prst="roundRect">
            <a:avLst>
              <a:gd name="adj" fmla="val 2586"/>
            </a:avLst>
          </a:prstGeom>
          <a:solidFill>
            <a:srgbClr val="0F6E56"/>
          </a:solidFill>
          <a:ln/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84080" y="253288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 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84080" y="2843784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6D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Intelligent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784080" y="5029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ปรับปรุงต่อเนื่อง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784080" y="56235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5532120"/>
            <a:ext cx="11338560" cy="0"/>
          </a:xfrm>
          <a:prstGeom prst="line">
            <a:avLst/>
          </a:prstGeom>
          <a:noFill/>
          <a:ln w="12700">
            <a:solidFill>
              <a:srgbClr val="5F6B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5989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● ปัจจุบัน ~1.8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58384" y="5989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 2 ปี ~3.1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88352" y="1481328"/>
            <a:ext cx="4517136" cy="457200"/>
          </a:xfrm>
          <a:prstGeom prst="roundRect">
            <a:avLst>
              <a:gd name="adj" fmla="val 12000"/>
            </a:avLst>
          </a:prstGeom>
          <a:solidFill>
            <a:srgbClr val="1D9E75">
              <a:alpha val="18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88352" y="1481328"/>
            <a:ext cx="4517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 Outstanding ปี 2573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ศูนย์ธรรมาภิบาลข้อมูลและยุทธศาสตร์อัจฉริยะ (DGSI)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เป้าหมายปลายทาง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เป้าหมายสู่ Outstanding พร้อมตัวชี้วัดที่วัดได้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64792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5608" y="1572768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ตัดสินใจด้วยข้อมูล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79008" y="1773936"/>
            <a:ext cx="5669280" cy="438912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/>
        </p:spPr>
      </p:sp>
      <p:sp>
        <p:nvSpPr>
          <p:cNvPr id="9" name="Text 7"/>
          <p:cNvSpPr/>
          <p:nvPr/>
        </p:nvSpPr>
        <p:spPr>
          <a:xfrm>
            <a:off x="5916168" y="1773936"/>
            <a:ext cx="5440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Self-service Analytics +20%/ปี · SSOT ≥ 90%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52374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8096" y="2715768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35608" y="2523744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ข้อมูลมีคุณภาพ &amp; พร้อมใช้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79008" y="2724912"/>
            <a:ext cx="5669280" cy="438912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/>
        </p:spPr>
      </p:sp>
      <p:sp>
        <p:nvSpPr>
          <p:cNvPr id="15" name="Text 13"/>
          <p:cNvSpPr/>
          <p:nvPr/>
        </p:nvSpPr>
        <p:spPr>
          <a:xfrm>
            <a:off x="5916168" y="2724912"/>
            <a:ext cx="5440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Quality ≥ 90% · Metadata Coverage ≥ 80%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47472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3666744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35608" y="3474720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ปฏิบัติตามกฎหมายเต็มรูปแบบ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779008" y="3675888"/>
            <a:ext cx="5669280" cy="438912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/>
        </p:spPr>
      </p:sp>
      <p:sp>
        <p:nvSpPr>
          <p:cNvPr id="21" name="Text 19"/>
          <p:cNvSpPr/>
          <p:nvPr/>
        </p:nvSpPr>
        <p:spPr>
          <a:xfrm>
            <a:off x="5916168" y="3675888"/>
            <a:ext cx="5440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PDPA 100% ระบบเสี่ยงสูง · เหตุรั่วไหลร้ายแรง = 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42569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" y="461772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35608" y="4425696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บุคลากรมีขีดความสามารถ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779008" y="4626864"/>
            <a:ext cx="5669280" cy="438912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/>
        </p:spPr>
      </p:sp>
      <p:sp>
        <p:nvSpPr>
          <p:cNvPr id="27" name="Text 25"/>
          <p:cNvSpPr/>
          <p:nvPr/>
        </p:nvSpPr>
        <p:spPr>
          <a:xfrm>
            <a:off x="5916168" y="4626864"/>
            <a:ext cx="5440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Literacy Coverage ≥ 60% ใน 2 ปี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37667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8096" y="5568696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5568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35608" y="5376672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AI อย่างรับผิดชอบ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779008" y="5577840"/>
            <a:ext cx="5669280" cy="438912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/>
        </p:spPr>
      </p:sp>
      <p:sp>
        <p:nvSpPr>
          <p:cNvPr id="33" name="Text 31"/>
          <p:cNvSpPr/>
          <p:nvPr/>
        </p:nvSpPr>
        <p:spPr>
          <a:xfrm>
            <a:off x="5916168" y="5577840"/>
            <a:ext cx="5440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Ethics Review 100% · Use case AI ≥ 3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ศูนย์ธรรมาภิบาลข้อมูลและยุทธศาสตร์อัจฉริยะ (DGSI)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สถานะปัจจุบัน vs เป้าหมาย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ประเมินวุฒิภาวะข้อมูล 8 ด้าน (สเกล 1–5)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463040"/>
          <a:ext cx="67665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691640"/>
            <a:ext cx="4297680" cy="1371600"/>
          </a:xfrm>
          <a:prstGeom prst="roundRect">
            <a:avLst>
              <a:gd name="adj" fmla="val 6667"/>
            </a:avLst>
          </a:prstGeom>
          <a:solidFill>
            <a:srgbClr val="EAF3EF"/>
          </a:solidFill>
          <a:ln w="12700">
            <a:solidFill>
              <a:srgbClr val="D7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182880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อยู่ราวระดับ 1.5–2 (Initial → Managed) เป้า 2 ปีคือยกทุกด้านสู่ระดับ 3 (Defined)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จุดที่ต้องเร่งที่สุด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0" y="3611880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D85A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0" y="36118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D4 คุณภาพข้อมูล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058400" y="361188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 1 → 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0" y="4453128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D85A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44531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D7 วัฒนธรรมข้อมูล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058400" y="445312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 1 → 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0" y="5257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ค่าปัจจุบันเป็นประมาณการ ต้องยืนยันด้วยการสำรวจจริงในไตรมาสแรก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ศูนย์ธรรมาภิบาลข้อมูลและยุทธศาสตร์อัจฉริยะ (DGSI)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การวิเคราะห์ช่องว่าง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จัดลำดับสิ่งที่ต้องเร่งดำเนินการ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55648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ช่องว่าง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90288" y="1627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ความเสี่ยงหากไม่ทำ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82128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งานหลักที่ต้องปิดช่องว่าง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03911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" y="2267712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D85A30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2677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55648" y="2039112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D4 คุณภาพข้อมูล (1→3)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90288" y="2039112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ตัดสินใจบนข้อมูลผิด เสียความน่าเชื่อถือ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82128" y="2039112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มาตรฐานคุณภาพ + วัด Data Quality Score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916936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" y="3145536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D85A30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31455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55648" y="2916936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D7 วัฒนธรรม/Literacy (1→3)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90288" y="2916936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ลงทุนเครื่องมือแต่คนใช้ไม่เป็น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82128" y="2916936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โปรแกรม Data Literacy ทั่วองค์กร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79476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" y="402336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" y="40233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กลาง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55648" y="379476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D3 บัญชีข้อมูล (1–2→3)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90288" y="3794760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หาข้อมูลไม่เจอ ซ้ำซ้อน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882128" y="379476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Inventory + Catalog (OpenMetadata)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4672584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" y="490118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" y="49011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กลาง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55648" y="4672584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D5 PDPA (2→3–4)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90288" y="4672584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เสี่ยงปรับ 5 ลบ. + ชื่อเสียง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882128" y="4672584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DPIA ระบบเสี่ยงสูงครบ 100%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55040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" y="577900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" y="57790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ต่อยอด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55648" y="5550408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D1·D2·D6·D8 (→3)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90288" y="5550408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ของเริ่มมีแล้ว ต้องทำให้ครบ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882128" y="5550408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Council/นโยบาย/Dashboard จริง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ศูนย์ธรรมาภิบาลข้อมูลและยุทธศาสตร์อัจฉริยะ (DGSI)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 2 ปี (ก.ค. 2569 – มิ.ย. 2570)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แผนปฏิบัติการ ปีที่ 1 — วางรากฐาน &amp; สร้างมาตรฐาน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88336" cy="4160520"/>
          </a:xfrm>
          <a:prstGeom prst="roundRect">
            <a:avLst>
              <a:gd name="adj" fmla="val 3401"/>
            </a:avLst>
          </a:prstGeom>
          <a:solidFill>
            <a:srgbClr val="EAF3E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2688336" cy="658368"/>
          </a:xfrm>
          <a:prstGeom prst="roundRect">
            <a:avLst>
              <a:gd name="adj" fmla="val 13889"/>
            </a:avLst>
          </a:prstGeom>
          <a:solidFill>
            <a:srgbClr val="0F6E5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057400"/>
            <a:ext cx="2688336" cy="2926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4650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391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ก.ค.–ก.ย. 69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514600"/>
            <a:ext cx="23225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Maturity Assessment จริง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แต่งตั้ง CDO + ตั้ง Council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แต่งตั้ง Steward นำร่อง 3–5 หน่วยงาน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4983480"/>
            <a:ext cx="2322576" cy="0"/>
          </a:xfrm>
          <a:prstGeom prst="line">
            <a:avLst/>
          </a:prstGeom>
          <a:noFill/>
          <a:ln w="12700">
            <a:solidFill>
              <a:srgbClr val="D7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504748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ตัววัด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527608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Council ประชุมครั้งแรก · Steward ครบ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74136" y="1691640"/>
            <a:ext cx="2688336" cy="4160520"/>
          </a:xfrm>
          <a:prstGeom prst="roundRect">
            <a:avLst>
              <a:gd name="adj" fmla="val 3401"/>
            </a:avLst>
          </a:prstGeom>
          <a:solidFill>
            <a:srgbClr val="F4F1EA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74136" y="1691640"/>
            <a:ext cx="2688336" cy="658368"/>
          </a:xfrm>
          <a:prstGeom prst="roundRect">
            <a:avLst>
              <a:gd name="adj" fmla="val 13889"/>
            </a:avLst>
          </a:prstGeom>
          <a:solidFill>
            <a:srgbClr val="0F6E56"/>
          </a:solidFill>
          <a:ln/>
        </p:spPr>
      </p:sp>
      <p:sp>
        <p:nvSpPr>
          <p:cNvPr id="15" name="Shape 13"/>
          <p:cNvSpPr/>
          <p:nvPr/>
        </p:nvSpPr>
        <p:spPr>
          <a:xfrm>
            <a:off x="3374136" y="2057400"/>
            <a:ext cx="2688336" cy="2926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3538728" y="174650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38728" y="20391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ต.ค.–ธ.ค. 69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57016" y="2514600"/>
            <a:ext cx="23225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ประกาศนโยบายธรรมาภิบาล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จำแนกชั้นความลับฉบับแรก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เริ่มทำ Data Inventory (T01)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57016" y="4983480"/>
            <a:ext cx="2322576" cy="0"/>
          </a:xfrm>
          <a:prstGeom prst="line">
            <a:avLst/>
          </a:prstGeom>
          <a:noFill/>
          <a:ln w="12700">
            <a:solidFill>
              <a:srgbClr val="D7E0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7016" y="504748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ตัววัด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57016" y="527608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นโยบายบังคับใช้ · Inventory นำร่องเสร็จ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81344" y="1691640"/>
            <a:ext cx="2688336" cy="4160520"/>
          </a:xfrm>
          <a:prstGeom prst="roundRect">
            <a:avLst>
              <a:gd name="adj" fmla="val 3401"/>
            </a:avLst>
          </a:prstGeom>
          <a:solidFill>
            <a:srgbClr val="EAF3E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1691640"/>
            <a:ext cx="2688336" cy="658368"/>
          </a:xfrm>
          <a:prstGeom prst="roundRect">
            <a:avLst>
              <a:gd name="adj" fmla="val 13889"/>
            </a:avLst>
          </a:prstGeom>
          <a:solidFill>
            <a:srgbClr val="0F6E56"/>
          </a:solidFill>
          <a:ln/>
        </p:spPr>
      </p:sp>
      <p:sp>
        <p:nvSpPr>
          <p:cNvPr id="24" name="Shape 22"/>
          <p:cNvSpPr/>
          <p:nvPr/>
        </p:nvSpPr>
        <p:spPr>
          <a:xfrm>
            <a:off x="6181344" y="2057400"/>
            <a:ext cx="2688336" cy="2926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5" name="Text 23"/>
          <p:cNvSpPr/>
          <p:nvPr/>
        </p:nvSpPr>
        <p:spPr>
          <a:xfrm>
            <a:off x="6345936" y="174650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45936" y="20391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ม.ค.–มี.ค. 70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64224" y="2514600"/>
            <a:ext cx="23225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จัดทำ RoPA + DPIA ระบบเสี่ยงสูง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กำหนดมาตรฐานคุณภาพข้อมูล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ตั้งเกณฑ์ยอมรับคุณภาพ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64224" y="4983480"/>
            <a:ext cx="2322576" cy="0"/>
          </a:xfrm>
          <a:prstGeom prst="line">
            <a:avLst/>
          </a:prstGeom>
          <a:noFill/>
          <a:ln w="12700">
            <a:solidFill>
              <a:srgbClr val="D7E0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504748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ตัววัด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64224" y="527608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DPIA เริ่มครบ · มาตรฐานคุณภาพประกาศ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88552" y="1691640"/>
            <a:ext cx="2688336" cy="4160520"/>
          </a:xfrm>
          <a:prstGeom prst="roundRect">
            <a:avLst>
              <a:gd name="adj" fmla="val 3401"/>
            </a:avLst>
          </a:prstGeom>
          <a:solidFill>
            <a:srgbClr val="F4F1EA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988552" y="1691640"/>
            <a:ext cx="2688336" cy="658368"/>
          </a:xfrm>
          <a:prstGeom prst="roundRect">
            <a:avLst>
              <a:gd name="adj" fmla="val 13889"/>
            </a:avLst>
          </a:prstGeom>
          <a:solidFill>
            <a:srgbClr val="0F6E56"/>
          </a:solidFill>
          <a:ln/>
        </p:spPr>
      </p:sp>
      <p:sp>
        <p:nvSpPr>
          <p:cNvPr id="33" name="Shape 31"/>
          <p:cNvSpPr/>
          <p:nvPr/>
        </p:nvSpPr>
        <p:spPr>
          <a:xfrm>
            <a:off x="8988552" y="2057400"/>
            <a:ext cx="2688336" cy="2926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4" name="Text 32"/>
          <p:cNvSpPr/>
          <p:nvPr/>
        </p:nvSpPr>
        <p:spPr>
          <a:xfrm>
            <a:off x="9153144" y="174650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53144" y="20391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เม.ย.–มิ.ย. 70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171432" y="2514600"/>
            <a:ext cx="23225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เปิดใช้ Data Catalog (OpenMetadata)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เริ่มวัด KPI ชุดแรก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Quality Score · Metadata Coverage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71432" y="4983480"/>
            <a:ext cx="2322576" cy="0"/>
          </a:xfrm>
          <a:prstGeom prst="line">
            <a:avLst/>
          </a:prstGeom>
          <a:noFill/>
          <a:ln w="12700">
            <a:solidFill>
              <a:srgbClr val="D7E0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71432" y="504748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ตัววัด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171432" y="527608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Catalog ใช้จริง · KPI Dashboard เริ่มเดิน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ศูนย์ธรรมาภิบาลข้อมูลและยุทธศาสตร์อัจฉริยะ (DGSI)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 2 ปี (ก.ค. 2570 – มิ.ย. 2571)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แผนปฏิบัติการ ปีที่ 2 — ใช้จริงทั่วองค์กร &amp; ยกระดับ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88336" cy="4160520"/>
          </a:xfrm>
          <a:prstGeom prst="roundRect">
            <a:avLst>
              <a:gd name="adj" fmla="val 3401"/>
            </a:avLst>
          </a:prstGeom>
          <a:solidFill>
            <a:srgbClr val="EAF3E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2688336" cy="658368"/>
          </a:xfrm>
          <a:prstGeom prst="roundRect">
            <a:avLst>
              <a:gd name="adj" fmla="val 13889"/>
            </a:avLst>
          </a:prstGeom>
          <a:solidFill>
            <a:srgbClr val="BA7517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057400"/>
            <a:ext cx="2688336" cy="292608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4650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391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ก.ค.–ก.ย. 70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514600"/>
            <a:ext cx="23225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ขับเคลื่อน Data Literacy ทั่วองค์กร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ขยาย Inventory/Catalog ทุกหน่วยงานหลัก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4983480"/>
            <a:ext cx="2322576" cy="0"/>
          </a:xfrm>
          <a:prstGeom prst="line">
            <a:avLst/>
          </a:prstGeom>
          <a:noFill/>
          <a:ln w="12700">
            <a:solidFill>
              <a:srgbClr val="D7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504748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ตัววัด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527608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A751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อบรมรุ่นแรก · Metadata Coverage เพิ่มขึ้น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74136" y="1691640"/>
            <a:ext cx="2688336" cy="4160520"/>
          </a:xfrm>
          <a:prstGeom prst="roundRect">
            <a:avLst>
              <a:gd name="adj" fmla="val 3401"/>
            </a:avLst>
          </a:prstGeom>
          <a:solidFill>
            <a:srgbClr val="F4F1EA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74136" y="1691640"/>
            <a:ext cx="2688336" cy="658368"/>
          </a:xfrm>
          <a:prstGeom prst="roundRect">
            <a:avLst>
              <a:gd name="adj" fmla="val 13889"/>
            </a:avLst>
          </a:prstGeom>
          <a:solidFill>
            <a:srgbClr val="BA7517"/>
          </a:solidFill>
          <a:ln/>
        </p:spPr>
      </p:sp>
      <p:sp>
        <p:nvSpPr>
          <p:cNvPr id="15" name="Shape 13"/>
          <p:cNvSpPr/>
          <p:nvPr/>
        </p:nvSpPr>
        <p:spPr>
          <a:xfrm>
            <a:off x="3374136" y="2057400"/>
            <a:ext cx="2688336" cy="292608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6" name="Text 14"/>
          <p:cNvSpPr/>
          <p:nvPr/>
        </p:nvSpPr>
        <p:spPr>
          <a:xfrm>
            <a:off x="3538728" y="174650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38728" y="20391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ต.ค.–ธ.ค. 70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57016" y="2514600"/>
            <a:ext cx="23225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ผู้บริหารใช้จริงในการประชุม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ยกคุณภาพข้อมูลชุดสำคัญสู่ ≥ 90%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57016" y="4983480"/>
            <a:ext cx="2322576" cy="0"/>
          </a:xfrm>
          <a:prstGeom prst="line">
            <a:avLst/>
          </a:prstGeom>
          <a:noFill/>
          <a:ln w="12700">
            <a:solidFill>
              <a:srgbClr val="D7E0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7016" y="504748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ตัววัด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57016" y="527608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A751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ผู้บริหารใช้ Dashboard · DQ Score ≥ 90%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81344" y="1691640"/>
            <a:ext cx="2688336" cy="4160520"/>
          </a:xfrm>
          <a:prstGeom prst="roundRect">
            <a:avLst>
              <a:gd name="adj" fmla="val 3401"/>
            </a:avLst>
          </a:prstGeom>
          <a:solidFill>
            <a:srgbClr val="EAF3EF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1691640"/>
            <a:ext cx="2688336" cy="658368"/>
          </a:xfrm>
          <a:prstGeom prst="roundRect">
            <a:avLst>
              <a:gd name="adj" fmla="val 13889"/>
            </a:avLst>
          </a:prstGeom>
          <a:solidFill>
            <a:srgbClr val="BA7517"/>
          </a:solidFill>
          <a:ln/>
        </p:spPr>
      </p:sp>
      <p:sp>
        <p:nvSpPr>
          <p:cNvPr id="24" name="Shape 22"/>
          <p:cNvSpPr/>
          <p:nvPr/>
        </p:nvSpPr>
        <p:spPr>
          <a:xfrm>
            <a:off x="6181344" y="2057400"/>
            <a:ext cx="2688336" cy="292608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25" name="Text 23"/>
          <p:cNvSpPr/>
          <p:nvPr/>
        </p:nvSpPr>
        <p:spPr>
          <a:xfrm>
            <a:off x="6345936" y="174650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45936" y="20391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ม.ค.–มี.ค. 71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64224" y="2514600"/>
            <a:ext cx="23225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DPIA ครบ 100% ระบบเสี่ยงสูง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 Advanced Analytics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เปิดเวที AI Ethics Review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64224" y="4983480"/>
            <a:ext cx="2322576" cy="0"/>
          </a:xfrm>
          <a:prstGeom prst="line">
            <a:avLst/>
          </a:prstGeom>
          <a:noFill/>
          <a:ln w="12700">
            <a:solidFill>
              <a:srgbClr val="D7E0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504748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ตัววัด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64224" y="527608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A751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PDPA 100% · AI Review เริ่มใช้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88552" y="1691640"/>
            <a:ext cx="2688336" cy="4160520"/>
          </a:xfrm>
          <a:prstGeom prst="roundRect">
            <a:avLst>
              <a:gd name="adj" fmla="val 3401"/>
            </a:avLst>
          </a:prstGeom>
          <a:solidFill>
            <a:srgbClr val="F4F1EA"/>
          </a:solidFill>
          <a:ln w="12700">
            <a:solidFill>
              <a:srgbClr val="D7E0DC"/>
            </a:solidFill>
            <a:prstDash val="solid"/>
          </a:ln>
          <a:effectLst>
            <a:outerShdw sx="100000" sy="100000" kx="0" ky="0" algn="bl" rotWithShape="0" blurRad="88900" dist="38100" dir="5400000">
              <a:srgbClr val="1A2B33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988552" y="1691640"/>
            <a:ext cx="2688336" cy="658368"/>
          </a:xfrm>
          <a:prstGeom prst="roundRect">
            <a:avLst>
              <a:gd name="adj" fmla="val 13889"/>
            </a:avLst>
          </a:prstGeom>
          <a:solidFill>
            <a:srgbClr val="BA7517"/>
          </a:solidFill>
          <a:ln/>
        </p:spPr>
      </p:sp>
      <p:sp>
        <p:nvSpPr>
          <p:cNvPr id="33" name="Shape 31"/>
          <p:cNvSpPr/>
          <p:nvPr/>
        </p:nvSpPr>
        <p:spPr>
          <a:xfrm>
            <a:off x="8988552" y="2057400"/>
            <a:ext cx="2688336" cy="292608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34" name="Text 32"/>
          <p:cNvSpPr/>
          <p:nvPr/>
        </p:nvSpPr>
        <p:spPr>
          <a:xfrm>
            <a:off x="9153144" y="174650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53144" y="20391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เม.ย.–มิ.ย. 71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171432" y="2514600"/>
            <a:ext cx="23225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 Maturity ซ้ำเทียบเป้า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Literacy Coverage ≥ 60%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ทบทวนแผนสู่ปี 2573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71432" y="4983480"/>
            <a:ext cx="2322576" cy="0"/>
          </a:xfrm>
          <a:prstGeom prst="line">
            <a:avLst/>
          </a:prstGeom>
          <a:noFill/>
          <a:ln w="12700">
            <a:solidFill>
              <a:srgbClr val="D7E0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71432" y="504748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ตัววัด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171432" y="527608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A751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ค่าเฉลี่ย Maturity ≥ 3 · Literacy ≥ 60%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ศูนย์ธรรมาภิบาลข้อมูลและยุทธศาสตร์อัจฉริยะ (DGSI)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ข้อเสนอเชิงนโยบาย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สิ่งที่ขอให้ผู้บริหารและสภามหาวิทยาลัยพิจารณา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AF3EF"/>
          </a:solidFill>
          <a:ln w="12700">
            <a:solidFill>
              <a:srgbClr val="D7E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19656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627632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อนุมัติเชิงหลักการให้จัดตั้ง/ยกระดับศูนย์ฯ เป็นหน่วยงานระดับองค์กรที่รายงานตรงต่อผู้บริหารสูงสุด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57860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1EA"/>
          </a:solidFill>
          <a:ln w="12700">
            <a:solidFill>
              <a:srgbClr val="D7E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2770632"/>
            <a:ext cx="457200" cy="457200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57860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แต่งตั้ง CDO และ Data Governance Council ให้มีอำนาจกำกับข้ามหน่วยงาน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52958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AF3EF"/>
          </a:solidFill>
          <a:ln w="12700">
            <a:solidFill>
              <a:srgbClr val="D7E0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721608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529584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สนับสนุนงบประมาณบุคลากรหลัก แพลตฟอร์มข้อมูล และโปรแกรม Data Literacy ตามระยะใน Roadmap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1EA"/>
          </a:solidFill>
          <a:ln w="12700">
            <a:solidFill>
              <a:srgbClr val="D7E0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4672584"/>
            <a:ext cx="457200" cy="457200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480560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กำหนดให้รายงาน KPI ต่อสภามหาวิทยาลัยอย่างน้อยปีละ 2 ครั้ง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43153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AF3EF"/>
          </a:solidFill>
          <a:ln w="12700">
            <a:solidFill>
              <a:srgbClr val="D7E0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62356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5431536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B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บรรจุเป้าหมายข้อมูลเป็นส่วนหนึ่งของแผนยุทธศาสตร์และการประกันคุณภาพ (EdPEx/AUN-QA)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ศูนย์ธรรมาภิบาลข้อมูลและยุทธศาสตร์อัจฉริยะ (DGSI)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206240" cy="4206240"/>
          </a:xfrm>
          <a:prstGeom prst="ellipse">
            <a:avLst/>
          </a:prstGeom>
          <a:ln w="1905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4937760"/>
            <a:ext cx="2743200" cy="2743200"/>
          </a:xfrm>
          <a:prstGeom prst="ellipse">
            <a:avLst/>
          </a:prstGeom>
          <a:solidFill>
            <a:srgbClr val="1D9E7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D9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สรุปสำหรับผู้บริหาร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วันนี้อยู่ราวระดับ 1.5–2 </a:t>
            </a:r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D9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 2 ปียกทุกด้านสู่ระดับ 3 </a:t>
            </a:r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D9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D9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Outstanding ระดับ 4–5 ในปี 2573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3383280"/>
            <a:ext cx="2011680" cy="0"/>
          </a:xfrm>
          <a:prstGeom prst="line">
            <a:avLst/>
          </a:prstGeom>
          <a:noFill/>
          <a:ln w="3175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6B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ขั้นถัดไป (Quick Win 3 อย่างแรก)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41148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16384A"/>
          </a:solidFill>
          <a:ln w="12700">
            <a:solidFill>
              <a:srgbClr val="1D9E75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4224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4617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Maturity Assessment จริง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24528" y="41148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16384A"/>
          </a:solidFill>
          <a:ln w="12700">
            <a:solidFill>
              <a:srgbClr val="1D9E75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4224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07408" y="4617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 Council + แต่งตั้ง Steward นำร่อง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82128" y="41148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16384A"/>
          </a:solidFill>
          <a:ln w="12700">
            <a:solidFill>
              <a:srgbClr val="1D9E75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4224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065008" y="4617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ประกาศนโยบายธรรมาภิบาลข้อมูลฉบับแรก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A9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ศูนย์ธรรมาภิบาลข้อมูลและยุทธศาสตร์อัจฉริยะ (DGSI) · มิถุนายน 2569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ข้อเสนอเชิงยุทธศาสตร์ต่อผู้บริหาร — ศูนย์ DGSI</dc:title>
  <dc:subject>PptxGenJS Presentation</dc:subject>
  <dc:creator>ศูนย์ DGSI</dc:creator>
  <cp:lastModifiedBy>ศูนย์ DGSI</cp:lastModifiedBy>
  <cp:revision>1</cp:revision>
  <dcterms:created xsi:type="dcterms:W3CDTF">2026-06-25T05:12:08Z</dcterms:created>
  <dcterms:modified xsi:type="dcterms:W3CDTF">2026-06-25T05:12:08Z</dcterms:modified>
</cp:coreProperties>
</file>